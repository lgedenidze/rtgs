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7"/>
  </p:notesMasterIdLst>
  <p:sldIdLst>
    <p:sldId id="292" r:id="rId4"/>
    <p:sldId id="329" r:id="rId5"/>
    <p:sldId id="338" r:id="rId6"/>
    <p:sldId id="339" r:id="rId7"/>
    <p:sldId id="321" r:id="rId8"/>
    <p:sldId id="340" r:id="rId9"/>
    <p:sldId id="332" r:id="rId10"/>
    <p:sldId id="333" r:id="rId11"/>
    <p:sldId id="322" r:id="rId12"/>
    <p:sldId id="327" r:id="rId13"/>
    <p:sldId id="325" r:id="rId14"/>
    <p:sldId id="341" r:id="rId15"/>
    <p:sldId id="33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FCC"/>
    <a:srgbClr val="CC0099"/>
    <a:srgbClr val="669900"/>
    <a:srgbClr val="00CC00"/>
    <a:srgbClr val="3399FF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41" autoAdjust="0"/>
    <p:restoredTop sz="92252" autoAdjust="0"/>
  </p:normalViewPr>
  <p:slideViewPr>
    <p:cSldViewPr>
      <p:cViewPr varScale="1">
        <p:scale>
          <a:sx n="72" d="100"/>
          <a:sy n="72" d="100"/>
        </p:scale>
        <p:origin x="119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1222C-24D9-47CE-A6C5-B94AA6AA833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CA8CB-436F-47A0-9322-DC244D890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8995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320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50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19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6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47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u="none" dirty="0" smtClean="0"/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30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843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37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45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61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64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07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CA8CB-436F-47A0-9322-DC244D8905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4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42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61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02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58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494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04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072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7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3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18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B9B94-AC7D-415E-8104-3F8F66485A83}" type="datetimeFigureOut">
              <a:rPr lang="en-US" smtClean="0"/>
              <a:t>6/23/2025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BEDAC-4AC9-4516-A880-CFE5096C45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9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2.swift.com/knowledgecentre/publications/srg_2024121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2.swift.com/go/book/book126095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2.swift.com/knowledgecentre/kb_articles/6000054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wift.com/standards/standards-releas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2.swift.com/knowledgecentre/publications/srg_20241213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wiftsmart.swift.com/Saba/Web_spf/EU1PRD0018/app/me/learningeventdetail;spf-url=common%2Fledetail%2Fcours000000000090699%3Freturnurl%3Dcatalog%252Fsearch%253FsearchText%253DISO%25252020022%2526mixedView%253Dtrue%2526filter%253D%25257B%252522RESOURCETYPEFACET%252522%25253A%25257B%252522label%252522%25253Anull%25252C%252522values%252522%25253A%25255B%25257B%252522facetValueId%252522%25253A%252522LEARNINGEVENT%252522%25252C%252522facetValueLabel%252522%25253Anull%25257D%25255D%25257D%25257D&amp;context%3Duser&amp;learnerId%3Dpersn00000000031645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2.swift.com/go/book/book20141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2.swift.com/knowledgecentre/kb_articles/502611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CB2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 </a:t>
            </a:r>
            <a:r>
              <a:rPr lang="en-US" sz="3200" dirty="0" smtClean="0">
                <a:solidFill>
                  <a:schemeClr val="bg1"/>
                </a:solidFill>
              </a:rPr>
              <a:t>ISO20022 update for GE community</a:t>
            </a:r>
          </a:p>
          <a:p>
            <a:pPr algn="ctr"/>
            <a:endParaRPr lang="en-US" sz="2400" dirty="0" smtClean="0">
              <a:solidFill>
                <a:schemeClr val="bg1"/>
              </a:solidFill>
            </a:endParaRP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June 20, </a:t>
            </a:r>
            <a:r>
              <a:rPr lang="en-US" sz="2400" dirty="0" smtClean="0">
                <a:solidFill>
                  <a:schemeClr val="bg1"/>
                </a:solidFill>
              </a:rPr>
              <a:t>2025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8061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/>
              <a:t>Contingency measures for MT Senders</a:t>
            </a:r>
            <a:endParaRPr lang="en-US" sz="1600" b="1" dirty="0">
              <a:solidFill>
                <a:srgbClr val="454545"/>
              </a:solidFill>
              <a:latin typeface="+mn-lt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458200" cy="6039077"/>
          </a:xfrm>
        </p:spPr>
        <p:txBody>
          <a:bodyPr>
            <a:normAutofit fontScale="25000" lnSpcReduction="20000"/>
          </a:bodyPr>
          <a:lstStyle/>
          <a:p>
            <a:pPr lvl="2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0" indent="0">
              <a:buNone/>
            </a:pPr>
            <a:r>
              <a:rPr lang="en-US" sz="6400" dirty="0"/>
              <a:t>Starting 22 November 2025, the following FIN instruction message types sent bank-to-bank will be </a:t>
            </a:r>
            <a:r>
              <a:rPr lang="en-US" sz="6400" b="1" u="sng" dirty="0"/>
              <a:t>immediately Negatively Acknowledged </a:t>
            </a:r>
            <a:r>
              <a:rPr lang="en-US" sz="6400" b="1" dirty="0"/>
              <a:t>(NAK/</a:t>
            </a:r>
            <a:r>
              <a:rPr lang="en-US" sz="6400" b="1" dirty="0" err="1"/>
              <a:t>ed</a:t>
            </a:r>
            <a:r>
              <a:rPr lang="en-US" sz="6400" b="1" dirty="0"/>
              <a:t>)</a:t>
            </a:r>
            <a:r>
              <a:rPr lang="en-US" sz="6400" dirty="0">
                <a:solidFill>
                  <a:srgbClr val="FF0000"/>
                </a:solidFill>
              </a:rPr>
              <a:t> </a:t>
            </a:r>
            <a:r>
              <a:rPr lang="en-US" sz="6400" dirty="0"/>
              <a:t>and</a:t>
            </a:r>
            <a:r>
              <a:rPr lang="en-US" sz="6400" dirty="0">
                <a:solidFill>
                  <a:srgbClr val="FF0000"/>
                </a:solidFill>
              </a:rPr>
              <a:t> </a:t>
            </a:r>
            <a:r>
              <a:rPr lang="en-US" sz="6400" b="1" u="sng" dirty="0"/>
              <a:t>will not be delivered</a:t>
            </a:r>
            <a:r>
              <a:rPr lang="en-US" sz="6400" b="1" dirty="0"/>
              <a:t>: </a:t>
            </a:r>
            <a:endParaRPr lang="en-US" sz="6400" b="1" dirty="0" smtClean="0"/>
          </a:p>
          <a:p>
            <a:pPr marL="0" indent="0">
              <a:buNone/>
            </a:pPr>
            <a:r>
              <a:rPr lang="en-US" sz="6400" b="1" dirty="0" smtClean="0">
                <a:solidFill>
                  <a:srgbClr val="FF0000"/>
                </a:solidFill>
              </a:rPr>
              <a:t>MT102</a:t>
            </a:r>
            <a:r>
              <a:rPr lang="en-US" sz="6400" b="1" dirty="0">
                <a:solidFill>
                  <a:srgbClr val="FF0000"/>
                </a:solidFill>
              </a:rPr>
              <a:t>, MT 102 STP, MT 103 REMIT, MT 201, MT 203</a:t>
            </a:r>
            <a:r>
              <a:rPr lang="en-US" sz="6400" b="1" dirty="0" smtClean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sz="6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6400" dirty="0"/>
              <a:t>Instruction message types: </a:t>
            </a:r>
            <a:r>
              <a:rPr lang="en-US" sz="6400" dirty="0">
                <a:solidFill>
                  <a:srgbClr val="00B050"/>
                </a:solidFill>
              </a:rPr>
              <a:t>MT 103, MT 103 STP, MT 200, MT 202, MT 202 COV, MT 205, MT 205 COV (including MT Reject/Return </a:t>
            </a:r>
            <a:r>
              <a:rPr lang="en-US" sz="6400" dirty="0" err="1">
                <a:solidFill>
                  <a:srgbClr val="00B050"/>
                </a:solidFill>
              </a:rPr>
              <a:t>codewords</a:t>
            </a:r>
            <a:r>
              <a:rPr lang="en-US" sz="6400" dirty="0">
                <a:solidFill>
                  <a:srgbClr val="00B050"/>
                </a:solidFill>
              </a:rPr>
              <a:t>) </a:t>
            </a:r>
            <a:r>
              <a:rPr lang="en-US" sz="6400" dirty="0"/>
              <a:t>sent bank-to-bank from 22 November 2025 will be subject to </a:t>
            </a:r>
            <a:r>
              <a:rPr lang="en-US" sz="6400" b="1" dirty="0">
                <a:solidFill>
                  <a:srgbClr val="00B0F0"/>
                </a:solidFill>
              </a:rPr>
              <a:t>contingency processing</a:t>
            </a:r>
            <a:r>
              <a:rPr lang="en-US" sz="6400" dirty="0"/>
              <a:t>, which consists of two steps</a:t>
            </a:r>
            <a:r>
              <a:rPr lang="en-US" sz="6400" dirty="0" smtClean="0"/>
              <a:t>:</a:t>
            </a:r>
          </a:p>
          <a:p>
            <a:pPr marL="0" indent="0">
              <a:buNone/>
            </a:pPr>
            <a:endParaRPr lang="en-US" sz="6400" dirty="0"/>
          </a:p>
          <a:p>
            <a:pPr marL="514350" indent="-514350">
              <a:buAutoNum type="arabicPeriod"/>
            </a:pPr>
            <a:r>
              <a:rPr lang="en-US" sz="6400" u="sng" dirty="0" smtClean="0"/>
              <a:t>FIN </a:t>
            </a:r>
            <a:r>
              <a:rPr lang="en-US" sz="6400" u="sng" dirty="0"/>
              <a:t>network validation will become stricter with the inclusion of additional rules </a:t>
            </a:r>
            <a:r>
              <a:rPr lang="en-US" sz="6400" dirty="0"/>
              <a:t>that ensure the MT instruction can be fully and accurately converted to its ISO 20022 equivalent. Messages that fail validation will be NAK/</a:t>
            </a:r>
            <a:r>
              <a:rPr lang="en-US" sz="6400" dirty="0" err="1"/>
              <a:t>ed</a:t>
            </a:r>
            <a:r>
              <a:rPr lang="en-US" sz="6400" dirty="0"/>
              <a:t>, and no further processing will be </a:t>
            </a:r>
            <a:r>
              <a:rPr lang="en-US" sz="6400" dirty="0" smtClean="0"/>
              <a:t>performed.</a:t>
            </a:r>
          </a:p>
          <a:p>
            <a:pPr marL="514350" indent="-514350">
              <a:buAutoNum type="arabicPeriod"/>
            </a:pPr>
            <a:r>
              <a:rPr lang="en-US" sz="6400" dirty="0" smtClean="0"/>
              <a:t>Messages </a:t>
            </a:r>
            <a:r>
              <a:rPr lang="en-US" sz="6400" dirty="0"/>
              <a:t>that pass the stricter network validation will be converted to their ISO 20022 equivalent and delivered to the receiver in ISO 20022 format via the </a:t>
            </a:r>
            <a:r>
              <a:rPr lang="en-US" sz="6400" dirty="0" err="1"/>
              <a:t>InterAct</a:t>
            </a:r>
            <a:r>
              <a:rPr lang="en-US" sz="6400" dirty="0"/>
              <a:t> </a:t>
            </a:r>
            <a:r>
              <a:rPr lang="en-US" sz="6400" dirty="0" err="1"/>
              <a:t>FINplus</a:t>
            </a:r>
            <a:r>
              <a:rPr lang="en-US" sz="6400" dirty="0"/>
              <a:t> </a:t>
            </a:r>
            <a:r>
              <a:rPr lang="en-US" sz="6400" dirty="0" smtClean="0"/>
              <a:t>service. </a:t>
            </a:r>
            <a:r>
              <a:rPr lang="en-US" sz="6400" u="sng" dirty="0" smtClean="0"/>
              <a:t>The </a:t>
            </a:r>
            <a:r>
              <a:rPr lang="en-US" sz="6400" u="sng" dirty="0"/>
              <a:t>additional MT validation rules</a:t>
            </a:r>
            <a:r>
              <a:rPr lang="en-US" sz="6400" dirty="0"/>
              <a:t> referred to in point 1 were published alongside Standards MT Release Guide 2025 on 13 December 2024. See details </a:t>
            </a:r>
            <a:r>
              <a:rPr lang="en-US" sz="6400" u="sng" dirty="0">
                <a:hlinkClick r:id="rId3"/>
              </a:rPr>
              <a:t>here</a:t>
            </a:r>
            <a:r>
              <a:rPr lang="en-US" sz="6400" dirty="0" smtClean="0"/>
              <a:t>.</a:t>
            </a:r>
          </a:p>
          <a:p>
            <a:pPr marL="0" indent="0">
              <a:buNone/>
            </a:pPr>
            <a:r>
              <a:rPr lang="en-US" sz="6400" dirty="0" smtClean="0"/>
              <a:t>  </a:t>
            </a:r>
            <a:endParaRPr lang="en-US" sz="6400" dirty="0"/>
          </a:p>
          <a:p>
            <a:pPr marL="0" indent="0">
              <a:buNone/>
            </a:pPr>
            <a:r>
              <a:rPr lang="en-US" sz="6400" dirty="0" smtClean="0"/>
              <a:t>The </a:t>
            </a:r>
            <a:r>
              <a:rPr lang="en-US" sz="6400" dirty="0"/>
              <a:t>MT to ISO 20022 conversion capability should be considered </a:t>
            </a:r>
            <a:r>
              <a:rPr lang="en-US" sz="6400" dirty="0">
                <a:solidFill>
                  <a:srgbClr val="FF0000"/>
                </a:solidFill>
              </a:rPr>
              <a:t>a short-term contingency service of last resort </a:t>
            </a:r>
            <a:r>
              <a:rPr lang="en-US" sz="6400" dirty="0"/>
              <a:t>and, as referenced above, will be chargeable. The price list can be found in in next </a:t>
            </a:r>
            <a:r>
              <a:rPr lang="en-US" sz="6400" dirty="0" smtClean="0"/>
              <a:t>slides or here </a:t>
            </a:r>
            <a:r>
              <a:rPr lang="en-US" sz="6400" u="sng" dirty="0" smtClean="0">
                <a:hlinkClick r:id="rId4"/>
              </a:rPr>
              <a:t>Pricing </a:t>
            </a:r>
            <a:r>
              <a:rPr lang="en-US" sz="6400" u="sng" dirty="0">
                <a:hlinkClick r:id="rId4"/>
              </a:rPr>
              <a:t>and Invoicing - Price List for Swift Messaging and </a:t>
            </a:r>
            <a:r>
              <a:rPr lang="en-US" sz="6400" u="sng" dirty="0" smtClean="0">
                <a:hlinkClick r:id="rId4"/>
              </a:rPr>
              <a:t>Solutions</a:t>
            </a:r>
            <a:r>
              <a:rPr lang="en-US" sz="6400" dirty="0"/>
              <a:t> </a:t>
            </a:r>
            <a:endParaRPr lang="en-US" sz="6400" dirty="0" smtClean="0"/>
          </a:p>
          <a:p>
            <a:pPr marL="0" indent="0">
              <a:buNone/>
            </a:pPr>
            <a:endParaRPr lang="en-US" sz="6400" dirty="0" smtClean="0"/>
          </a:p>
          <a:p>
            <a:pPr marL="0" indent="0">
              <a:buNone/>
            </a:pPr>
            <a:r>
              <a:rPr lang="en-US" sz="6400" dirty="0" smtClean="0"/>
              <a:t>Charges </a:t>
            </a:r>
            <a:r>
              <a:rPr lang="en-US" sz="6400" dirty="0"/>
              <a:t>will not be included in Fixed Fee or Swift Essentials tariffs and will be reviewed at regular </a:t>
            </a:r>
            <a:r>
              <a:rPr lang="en-US" sz="6400" dirty="0" smtClean="0"/>
              <a:t>intervals. </a:t>
            </a:r>
          </a:p>
          <a:p>
            <a:pPr marL="0" indent="0">
              <a:buNone/>
            </a:pP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42167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2400" b="1" dirty="0"/>
              <a:t>MT to ISO 20022 Conversion Service: For MT </a:t>
            </a:r>
            <a:r>
              <a:rPr lang="en-US" sz="2400" b="1" dirty="0" smtClean="0"/>
              <a:t>Senders (1/2)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" y="920444"/>
            <a:ext cx="89154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All fees are applicable as from January 2026. </a:t>
            </a:r>
            <a:r>
              <a:rPr lang="en-US" sz="1600" dirty="0" smtClean="0"/>
              <a:t>Fees </a:t>
            </a:r>
            <a:r>
              <a:rPr lang="en-US" sz="1600" dirty="0"/>
              <a:t>are charged at the level of the sending 8-character BIC on a monthly basis</a:t>
            </a:r>
            <a:r>
              <a:rPr lang="en-US" sz="1600" dirty="0" smtClean="0"/>
              <a:t>. The </a:t>
            </a:r>
            <a:r>
              <a:rPr lang="en-US" sz="1600" dirty="0"/>
              <a:t>messages in scope are listed in </a:t>
            </a:r>
            <a:r>
              <a:rPr lang="en-US" sz="1600" u="sng" dirty="0">
                <a:hlinkClick r:id="rId3"/>
              </a:rPr>
              <a:t>KB Article 6000054</a:t>
            </a:r>
            <a:r>
              <a:rPr lang="en-US" sz="1600" dirty="0"/>
              <a:t>. </a:t>
            </a:r>
            <a:endParaRPr lang="en-US" sz="1600" dirty="0" smtClean="0"/>
          </a:p>
          <a:p>
            <a:endParaRPr lang="en-US" sz="1600" dirty="0" smtClean="0"/>
          </a:p>
          <a:p>
            <a:r>
              <a:rPr lang="en-US" sz="1600" b="1" dirty="0" smtClean="0">
                <a:solidFill>
                  <a:srgbClr val="00B050"/>
                </a:solidFill>
              </a:rPr>
              <a:t>BICs </a:t>
            </a:r>
            <a:r>
              <a:rPr lang="en-US" sz="1600" b="1" dirty="0">
                <a:solidFill>
                  <a:srgbClr val="00B050"/>
                </a:solidFill>
              </a:rPr>
              <a:t>will be automatically enrolled to the Conversion Service upon sending qualifying </a:t>
            </a:r>
            <a:r>
              <a:rPr lang="en-US" sz="1600" b="1" dirty="0" err="1">
                <a:solidFill>
                  <a:srgbClr val="00B050"/>
                </a:solidFill>
              </a:rPr>
              <a:t>MTs.</a:t>
            </a:r>
            <a:endParaRPr lang="en-US" sz="1600" b="1" dirty="0">
              <a:solidFill>
                <a:srgbClr val="00B050"/>
              </a:solidFill>
            </a:endParaRPr>
          </a:p>
          <a:p>
            <a:endParaRPr lang="en-US" sz="1600" dirty="0" smtClean="0"/>
          </a:p>
          <a:p>
            <a:r>
              <a:rPr lang="en-US" sz="1600" dirty="0" smtClean="0"/>
              <a:t>The </a:t>
            </a:r>
            <a:r>
              <a:rPr lang="en-US" sz="1600" dirty="0"/>
              <a:t>total charge per BIC is the sum of a </a:t>
            </a:r>
            <a:r>
              <a:rPr lang="en-US" sz="1600" b="1" u="sng" dirty="0" smtClean="0"/>
              <a:t>monthly </a:t>
            </a:r>
            <a:r>
              <a:rPr lang="en-US" sz="1600" b="1" u="sng" dirty="0"/>
              <a:t>usage fee based on </a:t>
            </a:r>
            <a:r>
              <a:rPr lang="en-US" sz="1600" b="1" u="sng" dirty="0" smtClean="0"/>
              <a:t>volumes</a:t>
            </a:r>
            <a:r>
              <a:rPr lang="en-US" sz="1600" dirty="0"/>
              <a:t> </a:t>
            </a:r>
            <a:r>
              <a:rPr lang="en-US" sz="1600" dirty="0" smtClean="0"/>
              <a:t>and </a:t>
            </a:r>
            <a:r>
              <a:rPr lang="en-US" sz="1600" b="1" u="sng" dirty="0"/>
              <a:t>monthly service fee based on Global </a:t>
            </a:r>
            <a:r>
              <a:rPr lang="en-US" sz="1600" b="1" u="sng" dirty="0" smtClean="0"/>
              <a:t>Tier.</a:t>
            </a:r>
            <a:r>
              <a:rPr lang="en-US" sz="1600" dirty="0" smtClean="0"/>
              <a:t> The </a:t>
            </a:r>
            <a:r>
              <a:rPr lang="en-US" sz="1600" dirty="0"/>
              <a:t>fees are </a:t>
            </a:r>
            <a:r>
              <a:rPr lang="en-US" sz="1600" u="sng" dirty="0"/>
              <a:t>not included </a:t>
            </a:r>
            <a:r>
              <a:rPr lang="en-US" sz="1600" dirty="0"/>
              <a:t>in the fixed fee or Swift Essentials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70C0"/>
                </a:solidFill>
              </a:rPr>
              <a:t>1. Monthly usage fee based on volumes (Band)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6" y="3279338"/>
            <a:ext cx="8663167" cy="357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19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09374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2400" b="1" dirty="0"/>
              <a:t>MT to ISO 20022 Conversion Service: For MT </a:t>
            </a:r>
            <a:r>
              <a:rPr lang="en-US" sz="2400" b="1" dirty="0" smtClean="0"/>
              <a:t>Senders (2/2)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0" y="889178"/>
            <a:ext cx="79248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0070C0"/>
                </a:solidFill>
              </a:rPr>
              <a:t>2. Monthly </a:t>
            </a:r>
            <a:r>
              <a:rPr lang="en-US" sz="1600" b="1" dirty="0">
                <a:solidFill>
                  <a:srgbClr val="0070C0"/>
                </a:solidFill>
              </a:rPr>
              <a:t>Service Fee based on Global Tier</a:t>
            </a:r>
          </a:p>
          <a:p>
            <a:r>
              <a:rPr lang="en-US" sz="1600" dirty="0" smtClean="0"/>
              <a:t> </a:t>
            </a:r>
            <a:endParaRPr lang="en-US" sz="1600" dirty="0"/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18" y="1335454"/>
            <a:ext cx="8382000" cy="326562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4690152"/>
            <a:ext cx="8229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Importantly, conversion is only suitable for BIC8s sending </a:t>
            </a:r>
            <a:r>
              <a:rPr lang="en-US" b="1" dirty="0">
                <a:solidFill>
                  <a:srgbClr val="00B050"/>
                </a:solidFill>
              </a:rPr>
              <a:t>low volumes of MT payment instructions (i.e. less than 15,000 MT payment instructions per month) </a:t>
            </a:r>
            <a:r>
              <a:rPr lang="en-US" dirty="0"/>
              <a:t>and charges will apply based on global tier and volume of MT converted.</a:t>
            </a:r>
          </a:p>
          <a:p>
            <a:endParaRPr lang="en-US" dirty="0"/>
          </a:p>
          <a:p>
            <a:r>
              <a:rPr lang="en-US" dirty="0"/>
              <a:t>If the need for contingency processing </a:t>
            </a:r>
            <a:r>
              <a:rPr lang="en-US" u="sng" dirty="0"/>
              <a:t>above 15,000 MT payment instruction </a:t>
            </a:r>
            <a:r>
              <a:rPr lang="en-US" dirty="0"/>
              <a:t>messages arises, institutions must engage with Swift to discuss contingency support needs that may be available for a short-term, controlled basis, at additional cost.</a:t>
            </a:r>
          </a:p>
        </p:txBody>
      </p:sp>
    </p:spTree>
    <p:extLst>
      <p:ext uri="{BB962C8B-B14F-4D97-AF65-F5344CB8AC3E}">
        <p14:creationId xmlns:p14="http://schemas.microsoft.com/office/powerpoint/2010/main" val="243734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5" y="0"/>
            <a:ext cx="9144000" cy="674762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454545"/>
                </a:solidFill>
                <a:latin typeface="+mn-lt"/>
                <a:ea typeface="Calibri" panose="020F0502020204030204" pitchFamily="34" charset="0"/>
              </a:rPr>
              <a:t>Global Tier</a:t>
            </a:r>
            <a:endParaRPr lang="en-US" sz="2400" b="1" dirty="0">
              <a:solidFill>
                <a:srgbClr val="454545"/>
              </a:solidFill>
              <a:latin typeface="+mn-lt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877419"/>
            <a:ext cx="8787245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333D3E"/>
                </a:solidFill>
                <a:latin typeface="Aeonik Pro"/>
              </a:rPr>
              <a:t>Global </a:t>
            </a:r>
            <a:r>
              <a:rPr lang="en-US" sz="1400" b="1" dirty="0">
                <a:solidFill>
                  <a:srgbClr val="333D3E"/>
                </a:solidFill>
                <a:latin typeface="Aeonik Pro"/>
              </a:rPr>
              <a:t>tier definition</a:t>
            </a:r>
          </a:p>
          <a:p>
            <a:r>
              <a:rPr lang="en-US" sz="1400" dirty="0">
                <a:solidFill>
                  <a:srgbClr val="333D3E"/>
                </a:solidFill>
                <a:latin typeface="Aeonik Pro"/>
              </a:rPr>
              <a:t>The global tier is an index, ranging from 1 to 20, that is assigned to each financial institution. The global tier of a financial institution reflects the aggregated invoiced fees for the eligible services of that financial institution.</a:t>
            </a:r>
          </a:p>
          <a:p>
            <a:r>
              <a:rPr lang="en-US" sz="1400" dirty="0">
                <a:solidFill>
                  <a:srgbClr val="333D3E"/>
                </a:solidFill>
                <a:latin typeface="Aeonik Pro"/>
              </a:rPr>
              <a:t>The global tier is used to determine the traffic and usage prices for the majority of SWIFT services. This is the case for, amongst other services, the FIN service, </a:t>
            </a:r>
            <a:r>
              <a:rPr lang="en-US" sz="1400" dirty="0" err="1">
                <a:solidFill>
                  <a:srgbClr val="333D3E"/>
                </a:solidFill>
                <a:latin typeface="Aeonik Pro"/>
              </a:rPr>
              <a:t>InterAct</a:t>
            </a:r>
            <a:r>
              <a:rPr lang="en-US" sz="1400" dirty="0">
                <a:solidFill>
                  <a:srgbClr val="333D3E"/>
                </a:solidFill>
                <a:latin typeface="Aeonik Pro"/>
              </a:rPr>
              <a:t>, </a:t>
            </a:r>
            <a:r>
              <a:rPr lang="en-US" sz="1400" dirty="0" err="1">
                <a:solidFill>
                  <a:srgbClr val="333D3E"/>
                </a:solidFill>
                <a:latin typeface="Aeonik Pro"/>
              </a:rPr>
              <a:t>FileAct</a:t>
            </a:r>
            <a:r>
              <a:rPr lang="en-US" sz="1400" dirty="0">
                <a:solidFill>
                  <a:srgbClr val="333D3E"/>
                </a:solidFill>
                <a:latin typeface="Aeonik Pro"/>
              </a:rPr>
              <a:t>, and various Solutions</a:t>
            </a:r>
            <a:r>
              <a:rPr lang="en-US" sz="1400" dirty="0" smtClean="0">
                <a:solidFill>
                  <a:srgbClr val="333D3E"/>
                </a:solidFill>
                <a:latin typeface="Aeonik Pro"/>
              </a:rPr>
              <a:t>.</a:t>
            </a:r>
          </a:p>
          <a:p>
            <a:endParaRPr lang="en-US" sz="1400" dirty="0">
              <a:solidFill>
                <a:srgbClr val="333D3E"/>
              </a:solidFill>
              <a:latin typeface="Aeonik Pro"/>
            </a:endParaRPr>
          </a:p>
          <a:p>
            <a:r>
              <a:rPr lang="en-US" sz="1400" b="1" dirty="0">
                <a:solidFill>
                  <a:srgbClr val="333D3E"/>
                </a:solidFill>
                <a:latin typeface="Aeonik Pro"/>
              </a:rPr>
              <a:t>Global tier calculation</a:t>
            </a:r>
          </a:p>
          <a:p>
            <a:r>
              <a:rPr lang="en-US" sz="1400" dirty="0">
                <a:solidFill>
                  <a:srgbClr val="333D3E"/>
                </a:solidFill>
                <a:latin typeface="Aeonik Pro"/>
              </a:rPr>
              <a:t>The global tier is calculated based on a financial institution's aggregated Network-based Invoice. The Network-based Invoice is the sum of the amounts invoiced to all SWIFT users that are part of the financial institution for the usage of the network-based SWIFT services (traffic) over the previous 12-month period. The rolling 12-month period alleviates the impact of seasonal effects and traffic anomalies</a:t>
            </a:r>
            <a:r>
              <a:rPr lang="en-US" sz="1400" dirty="0" smtClean="0">
                <a:solidFill>
                  <a:srgbClr val="333D3E"/>
                </a:solidFill>
                <a:latin typeface="Aeonik Pro"/>
              </a:rPr>
              <a:t>.</a:t>
            </a:r>
          </a:p>
          <a:p>
            <a:endParaRPr lang="en-US" sz="1400" b="1" dirty="0" smtClean="0">
              <a:solidFill>
                <a:srgbClr val="FF0000"/>
              </a:solidFill>
            </a:endParaRPr>
          </a:p>
          <a:p>
            <a:r>
              <a:rPr lang="en-US" sz="1400" b="1" i="1" dirty="0" smtClean="0">
                <a:solidFill>
                  <a:srgbClr val="0070C0"/>
                </a:solidFill>
              </a:rPr>
              <a:t>Source: Price </a:t>
            </a:r>
            <a:r>
              <a:rPr lang="en-US" sz="1400" b="1" i="1" dirty="0">
                <a:solidFill>
                  <a:srgbClr val="0070C0"/>
                </a:solidFill>
              </a:rPr>
              <a:t>List for SWIFT Messaging and </a:t>
            </a:r>
            <a:r>
              <a:rPr lang="en-US" sz="1400" b="1" i="1" dirty="0" smtClean="0">
                <a:solidFill>
                  <a:srgbClr val="0070C0"/>
                </a:solidFill>
              </a:rPr>
              <a:t>Solutions on </a:t>
            </a:r>
            <a:r>
              <a:rPr lang="en-US" sz="1400" b="1" i="1" dirty="0" err="1" smtClean="0">
                <a:solidFill>
                  <a:srgbClr val="0070C0"/>
                </a:solidFill>
              </a:rPr>
              <a:t>MySWIFT</a:t>
            </a:r>
            <a:endParaRPr lang="en-US" sz="1400" b="1" i="1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74" y="3973176"/>
            <a:ext cx="8007762" cy="242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6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" y="-15834"/>
            <a:ext cx="9144000" cy="854034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454545"/>
                </a:solidFill>
                <a:latin typeface="+mn-lt"/>
                <a:ea typeface="Calibri" panose="020F0502020204030204" pitchFamily="34" charset="0"/>
              </a:rPr>
              <a:t>In-flow translation services for ISO20022 receivers</a:t>
            </a:r>
            <a:endParaRPr lang="en-US" sz="2400" b="1" dirty="0">
              <a:solidFill>
                <a:srgbClr val="454545"/>
              </a:solidFill>
              <a:latin typeface="+mn-lt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" y="838200"/>
            <a:ext cx="88392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In-flow Translation will become chargeable for payment instruction messages as from January 2026</a:t>
            </a:r>
            <a:r>
              <a:rPr lang="en-US" sz="1600" dirty="0"/>
              <a:t>, with charges automatically applied. Users that do not depend on In-flow Translation </a:t>
            </a:r>
            <a:r>
              <a:rPr lang="en-US" sz="1600" dirty="0" smtClean="0"/>
              <a:t>must </a:t>
            </a:r>
            <a:r>
              <a:rPr lang="en-US" sz="1600" b="1" u="sng" dirty="0" smtClean="0">
                <a:solidFill>
                  <a:srgbClr val="00B050"/>
                </a:solidFill>
              </a:rPr>
              <a:t>opt out</a:t>
            </a:r>
            <a:r>
              <a:rPr lang="en-US" sz="1600" u="sng" dirty="0" smtClean="0"/>
              <a:t> </a:t>
            </a:r>
            <a:r>
              <a:rPr lang="en-US" sz="1600" dirty="0" smtClean="0"/>
              <a:t>of </a:t>
            </a:r>
            <a:r>
              <a:rPr lang="en-US" sz="1600" dirty="0"/>
              <a:t>the service </a:t>
            </a:r>
            <a:r>
              <a:rPr lang="en-US" sz="1600" b="1" u="sng" dirty="0" smtClean="0">
                <a:solidFill>
                  <a:srgbClr val="00B050"/>
                </a:solidFill>
              </a:rPr>
              <a:t>before mid December 2025 </a:t>
            </a:r>
            <a:r>
              <a:rPr lang="en-US" sz="1600" b="1" u="sng" dirty="0">
                <a:solidFill>
                  <a:srgbClr val="00B050"/>
                </a:solidFill>
              </a:rPr>
              <a:t>to avoid being charged</a:t>
            </a:r>
            <a:r>
              <a:rPr lang="en-US" sz="1600" dirty="0"/>
              <a:t>. Fees are charged at the level of the </a:t>
            </a:r>
            <a:r>
              <a:rPr lang="en-US" sz="1600" dirty="0" smtClean="0"/>
              <a:t>receiving </a:t>
            </a:r>
            <a:r>
              <a:rPr lang="en-US" sz="1600" dirty="0"/>
              <a:t>8-character BIC on a monthly basis.</a:t>
            </a:r>
          </a:p>
          <a:p>
            <a:endParaRPr lang="en-US" sz="1600" dirty="0"/>
          </a:p>
          <a:p>
            <a:r>
              <a:rPr lang="en-US" sz="1600" dirty="0"/>
              <a:t>The messages in scope are listed in </a:t>
            </a:r>
            <a:r>
              <a:rPr lang="en-US" sz="1600" b="1" dirty="0"/>
              <a:t>KB Article 6000054</a:t>
            </a:r>
            <a:r>
              <a:rPr lang="en-US" sz="1600" dirty="0"/>
              <a:t>. Receiving BICs will be charged if in scope messages are translated by the In-flow Translation service in the month.</a:t>
            </a:r>
          </a:p>
          <a:p>
            <a:endParaRPr lang="en-US" sz="1600" dirty="0"/>
          </a:p>
          <a:p>
            <a:r>
              <a:rPr lang="en-US" sz="1600" dirty="0"/>
              <a:t>The charge per BIC is the </a:t>
            </a:r>
            <a:r>
              <a:rPr lang="en-US" sz="1600" b="1" dirty="0"/>
              <a:t>monthly service fee based on Global </a:t>
            </a:r>
            <a:r>
              <a:rPr lang="en-US" sz="1600" b="1" dirty="0" smtClean="0"/>
              <a:t>Tier. </a:t>
            </a:r>
          </a:p>
          <a:p>
            <a:r>
              <a:rPr lang="en-US" sz="1600" dirty="0" smtClean="0"/>
              <a:t>The </a:t>
            </a:r>
            <a:r>
              <a:rPr lang="en-US" sz="1600" dirty="0"/>
              <a:t>fees are not included in the Fixed fee or Swift Essentials</a:t>
            </a:r>
            <a:r>
              <a:rPr lang="en-US" sz="1600" dirty="0" smtClean="0"/>
              <a:t>.</a:t>
            </a:r>
          </a:p>
          <a:p>
            <a:endParaRPr lang="en-US" sz="1600" dirty="0"/>
          </a:p>
          <a:p>
            <a:r>
              <a:rPr lang="en-US" sz="1600" b="1" dirty="0"/>
              <a:t>Monthly </a:t>
            </a:r>
            <a:r>
              <a:rPr lang="en-US" sz="1600" b="1" dirty="0" smtClean="0"/>
              <a:t>usage </a:t>
            </a:r>
            <a:r>
              <a:rPr lang="en-US" sz="1600" b="1" dirty="0"/>
              <a:t>f</a:t>
            </a:r>
            <a:r>
              <a:rPr lang="en-US" sz="1600" b="1" dirty="0" smtClean="0"/>
              <a:t>ee: </a:t>
            </a:r>
            <a:r>
              <a:rPr lang="en-US" sz="1600" dirty="0" smtClean="0"/>
              <a:t>No </a:t>
            </a:r>
            <a:r>
              <a:rPr lang="en-US" sz="1600" dirty="0"/>
              <a:t>usage fees are applicable. </a:t>
            </a:r>
            <a:r>
              <a:rPr lang="en-US" sz="1600" u="sng" dirty="0"/>
              <a:t>Fees may be introduced in the future.</a:t>
            </a:r>
          </a:p>
          <a:p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317869"/>
            <a:ext cx="5740695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7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/>
              <a:t>Testing the FIN validation rules and contingency </a:t>
            </a:r>
            <a:r>
              <a:rPr lang="en-US" sz="2400" b="1" dirty="0" smtClean="0"/>
              <a:t>processing (1/2)</a:t>
            </a:r>
            <a:endParaRPr lang="en-US" sz="1050" b="1" dirty="0">
              <a:solidFill>
                <a:srgbClr val="454545"/>
              </a:solidFill>
              <a:latin typeface="+mn-lt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839200" cy="60198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dirty="0"/>
              <a:t>Information on the availability date of the SR 2025 content on the FIN Test and Training and </a:t>
            </a:r>
            <a:r>
              <a:rPr lang="en-US" sz="6400" dirty="0" err="1"/>
              <a:t>FINplus</a:t>
            </a:r>
            <a:r>
              <a:rPr lang="en-US" sz="6400" dirty="0"/>
              <a:t> pilot environments is available on the </a:t>
            </a:r>
            <a:r>
              <a:rPr lang="en-US" sz="6400" u="sng" dirty="0">
                <a:hlinkClick r:id="rId3"/>
              </a:rPr>
              <a:t>Standards Releases </a:t>
            </a:r>
            <a:r>
              <a:rPr lang="en-US" sz="6400" u="sng" dirty="0" smtClean="0">
                <a:hlinkClick r:id="rId3"/>
              </a:rPr>
              <a:t>page</a:t>
            </a:r>
            <a:r>
              <a:rPr lang="en-US" sz="6400" dirty="0"/>
              <a:t> </a:t>
            </a:r>
            <a:r>
              <a:rPr lang="en-US" sz="6400" u="sng" dirty="0"/>
              <a:t>https://www.swift.com/standards/standards-releases</a:t>
            </a:r>
            <a:endParaRPr lang="en-US" sz="6400" dirty="0" smtClean="0"/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On </a:t>
            </a:r>
            <a:r>
              <a:rPr lang="en-US" sz="6400" b="1" dirty="0"/>
              <a:t>19 July 2025</a:t>
            </a:r>
            <a:r>
              <a:rPr lang="en-US" sz="6400" dirty="0"/>
              <a:t>, SR2025 is activated in FIN future mode (</a:t>
            </a:r>
            <a:r>
              <a:rPr lang="en-US" sz="6400" u="sng" dirty="0"/>
              <a:t>without the additional contingency FIN validation rules</a:t>
            </a:r>
            <a:r>
              <a:rPr lang="en-US" sz="6400" dirty="0" smtClean="0"/>
              <a:t>).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r>
              <a:rPr lang="en-US" sz="6400" dirty="0"/>
              <a:t>On </a:t>
            </a:r>
            <a:r>
              <a:rPr lang="en-US" sz="6400" b="1" dirty="0"/>
              <a:t>26 July 2025</a:t>
            </a:r>
            <a:r>
              <a:rPr lang="en-US" sz="6400" dirty="0"/>
              <a:t>, </a:t>
            </a:r>
            <a:r>
              <a:rPr lang="en-US" sz="6400" dirty="0">
                <a:solidFill>
                  <a:srgbClr val="FF0000"/>
                </a:solidFill>
              </a:rPr>
              <a:t>the additional contingency FIN validation rules are activated</a:t>
            </a:r>
            <a:r>
              <a:rPr lang="en-US" sz="6400" dirty="0"/>
              <a:t> and customers who wish to test both these FIN validation rules and contingency processing can start their tests.</a:t>
            </a:r>
          </a:p>
          <a:p>
            <a:pPr marL="0" indent="0">
              <a:buNone/>
            </a:pPr>
            <a:endParaRPr lang="en-US" sz="6400" dirty="0" smtClean="0"/>
          </a:p>
          <a:p>
            <a:pPr marL="0" indent="0">
              <a:buNone/>
            </a:pPr>
            <a:r>
              <a:rPr lang="en-US" sz="6400" dirty="0"/>
              <a:t>A </a:t>
            </a:r>
            <a:r>
              <a:rPr lang="en-US" sz="6400" dirty="0" smtClean="0"/>
              <a:t>Test Sparring Partner (TSP) </a:t>
            </a:r>
            <a:r>
              <a:rPr lang="en-US" sz="6400" dirty="0"/>
              <a:t>catalogue to </a:t>
            </a:r>
            <a:r>
              <a:rPr lang="en-US" sz="6400" b="1" dirty="0">
                <a:solidFill>
                  <a:srgbClr val="00B050"/>
                </a:solidFill>
              </a:rPr>
              <a:t>test the Contingency processing is currently under evaluation. </a:t>
            </a:r>
            <a:r>
              <a:rPr lang="en-US" sz="6600" dirty="0"/>
              <a:t>Starting mid-July access to the testing environment </a:t>
            </a:r>
            <a:r>
              <a:rPr lang="en-US" sz="6600" dirty="0" smtClean="0"/>
              <a:t>will be </a:t>
            </a:r>
            <a:r>
              <a:rPr lang="en-US" sz="6600" dirty="0"/>
              <a:t>available.</a:t>
            </a:r>
          </a:p>
          <a:p>
            <a:pPr marL="0" indent="0">
              <a:buNone/>
            </a:pPr>
            <a:endParaRPr lang="en-US" sz="6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6400" dirty="0" smtClean="0">
                <a:solidFill>
                  <a:srgbClr val="FF0000"/>
                </a:solidFill>
              </a:rPr>
              <a:t>For </a:t>
            </a:r>
            <a:r>
              <a:rPr lang="en-US" sz="6400" dirty="0">
                <a:solidFill>
                  <a:srgbClr val="FF0000"/>
                </a:solidFill>
              </a:rPr>
              <a:t>Senders:</a:t>
            </a:r>
          </a:p>
          <a:p>
            <a:r>
              <a:rPr lang="en-US" sz="6400" b="1" dirty="0"/>
              <a:t>Purpose</a:t>
            </a:r>
            <a:r>
              <a:rPr lang="en-US" sz="6400" dirty="0"/>
              <a:t>: validate that MTs sent after Nov 2025 are compliant with the new contingency FIN validation and that MTs are properly translated to ISO 20022</a:t>
            </a:r>
          </a:p>
          <a:p>
            <a:r>
              <a:rPr lang="en-US" sz="6400" dirty="0"/>
              <a:t>Configure a </a:t>
            </a:r>
            <a:r>
              <a:rPr lang="en-US" sz="6400" dirty="0" err="1"/>
              <a:t>FINplus</a:t>
            </a:r>
            <a:r>
              <a:rPr lang="en-US" sz="6400" dirty="0"/>
              <a:t> test reception queue in your interface and open the </a:t>
            </a:r>
            <a:r>
              <a:rPr lang="en-US" sz="6400" dirty="0" err="1"/>
              <a:t>SwiftNet</a:t>
            </a:r>
            <a:r>
              <a:rPr lang="en-US" sz="6400" dirty="0"/>
              <a:t> connection to that queue</a:t>
            </a:r>
          </a:p>
          <a:p>
            <a:r>
              <a:rPr lang="en-US" sz="6400" dirty="0"/>
              <a:t>Send MT payment instructions to your own BIC on FIN Test and Training with the LT logged-in in future mode</a:t>
            </a:r>
          </a:p>
          <a:p>
            <a:r>
              <a:rPr lang="en-US" sz="6400" dirty="0"/>
              <a:t>Validate processing: the MT message shall be </a:t>
            </a:r>
            <a:r>
              <a:rPr lang="en-US" sz="6400" dirty="0" err="1"/>
              <a:t>ACKed</a:t>
            </a:r>
            <a:r>
              <a:rPr lang="en-US" sz="6400" dirty="0"/>
              <a:t> and be sent for contingency processing</a:t>
            </a:r>
          </a:p>
          <a:p>
            <a:r>
              <a:rPr lang="en-US" sz="6400" b="1" dirty="0"/>
              <a:t>Reception</a:t>
            </a:r>
            <a:r>
              <a:rPr lang="en-US" sz="6400" dirty="0"/>
              <a:t>: the ISO 20022 equivalent message will be delivered to your BIC DN over the </a:t>
            </a:r>
            <a:r>
              <a:rPr lang="en-US" sz="6400" b="1" dirty="0" err="1"/>
              <a:t>FINplus</a:t>
            </a:r>
            <a:r>
              <a:rPr lang="en-US" sz="6400" b="1" dirty="0"/>
              <a:t> pilot future </a:t>
            </a:r>
            <a:r>
              <a:rPr lang="en-US" sz="6400" dirty="0"/>
              <a:t>service on the </a:t>
            </a:r>
            <a:r>
              <a:rPr lang="en-US" sz="6400" dirty="0" err="1"/>
              <a:t>SwiftNet</a:t>
            </a:r>
            <a:r>
              <a:rPr lang="en-US" sz="6400" dirty="0"/>
              <a:t> queue that you have configured</a:t>
            </a:r>
          </a:p>
          <a:p>
            <a:r>
              <a:rPr lang="en-US" sz="6400" dirty="0"/>
              <a:t>In the event of a FIN NAK, the error codes related to the contingency validation and processing will be listed in the corresponding documentation on the </a:t>
            </a:r>
            <a:r>
              <a:rPr lang="en-US" sz="6400" u="sng" dirty="0">
                <a:hlinkClick r:id="rId4"/>
              </a:rPr>
              <a:t>Standards Release Guide </a:t>
            </a:r>
            <a:r>
              <a:rPr lang="en-US" sz="6400" u="sng" dirty="0" smtClean="0">
                <a:hlinkClick r:id="rId4"/>
              </a:rPr>
              <a:t>page</a:t>
            </a:r>
            <a:endParaRPr lang="en-US" sz="6400" dirty="0"/>
          </a:p>
          <a:p>
            <a:pPr lvl="2">
              <a:buFont typeface="Wingdings" panose="05000000000000000000" pitchFamily="2" charset="2"/>
              <a:buChar char="Ø"/>
            </a:pPr>
            <a:endParaRPr lang="en-US" sz="17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47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/>
              <a:t>Testing the FIN validation rules and contingency processing </a:t>
            </a:r>
            <a:r>
              <a:rPr lang="en-US" sz="2400" b="1" dirty="0" smtClean="0"/>
              <a:t>(2/2</a:t>
            </a:r>
            <a:r>
              <a:rPr lang="en-US" sz="2400" b="1" dirty="0"/>
              <a:t>)</a:t>
            </a:r>
            <a:endParaRPr lang="en-US" sz="2400" b="1" dirty="0">
              <a:solidFill>
                <a:srgbClr val="454545"/>
              </a:solidFill>
              <a:latin typeface="+mn-lt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229600" cy="571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>
                <a:solidFill>
                  <a:srgbClr val="FF0000"/>
                </a:solidFill>
              </a:rPr>
              <a:t>For </a:t>
            </a:r>
            <a:r>
              <a:rPr lang="en-US" sz="1600" dirty="0">
                <a:solidFill>
                  <a:srgbClr val="FF0000"/>
                </a:solidFill>
              </a:rPr>
              <a:t>Receivers</a:t>
            </a:r>
            <a:r>
              <a:rPr lang="en-US" sz="1600" dirty="0" smtClean="0">
                <a:solidFill>
                  <a:srgbClr val="FF0000"/>
                </a:solidFill>
              </a:rPr>
              <a:t>:</a:t>
            </a:r>
          </a:p>
          <a:p>
            <a:r>
              <a:rPr lang="en-US" sz="1600" b="1" dirty="0" smtClean="0"/>
              <a:t>Purpose</a:t>
            </a:r>
            <a:r>
              <a:rPr lang="en-US" sz="1600" dirty="0"/>
              <a:t>: confirm that the MT messages sent by your clients after Nov 2025 are properly translated and the received ISO 20022 can be processed in your downstream systems (if In-flow translation is activated, the embedded MT will also be delivered with the ISO 20022)</a:t>
            </a:r>
          </a:p>
          <a:p>
            <a:r>
              <a:rPr lang="en-US" sz="1600" dirty="0"/>
              <a:t>Contact a few clients you would like to test with and organize a test window</a:t>
            </a:r>
          </a:p>
          <a:p>
            <a:r>
              <a:rPr lang="en-US" sz="1600" dirty="0"/>
              <a:t>Configure a </a:t>
            </a:r>
            <a:r>
              <a:rPr lang="en-US" sz="1600" dirty="0" err="1"/>
              <a:t>FINplus</a:t>
            </a:r>
            <a:r>
              <a:rPr lang="en-US" sz="1600" dirty="0"/>
              <a:t> test reception queue in your interface and open the </a:t>
            </a:r>
            <a:r>
              <a:rPr lang="en-US" sz="1600" dirty="0" err="1"/>
              <a:t>SwiftNet</a:t>
            </a:r>
            <a:r>
              <a:rPr lang="en-US" sz="1600" dirty="0"/>
              <a:t> connection to that queue</a:t>
            </a:r>
          </a:p>
          <a:p>
            <a:r>
              <a:rPr lang="en-US" sz="1600" dirty="0"/>
              <a:t>Ask your clients to send MT payment instructions to your BIC on FIN Test and Training with the LT logged-in in future mode</a:t>
            </a:r>
          </a:p>
          <a:p>
            <a:r>
              <a:rPr lang="en-US" sz="1600" b="1" dirty="0"/>
              <a:t>Reception</a:t>
            </a:r>
            <a:r>
              <a:rPr lang="en-US" sz="1600" dirty="0"/>
              <a:t>: the ISO 20022 equivalent message will be delivered to your BIC DN over the </a:t>
            </a:r>
            <a:r>
              <a:rPr lang="en-US" sz="1600" b="1" dirty="0" err="1"/>
              <a:t>FINplus</a:t>
            </a:r>
            <a:r>
              <a:rPr lang="en-US" sz="1600" b="1" dirty="0"/>
              <a:t> pilot future </a:t>
            </a:r>
            <a:r>
              <a:rPr lang="en-US" sz="1600" dirty="0"/>
              <a:t>service on the </a:t>
            </a:r>
            <a:r>
              <a:rPr lang="en-US" sz="1600" dirty="0" err="1"/>
              <a:t>SwiftNet</a:t>
            </a:r>
            <a:r>
              <a:rPr lang="en-US" sz="1600" dirty="0"/>
              <a:t> queue that you have configured</a:t>
            </a:r>
          </a:p>
          <a:p>
            <a:r>
              <a:rPr lang="en-US" sz="1600" dirty="0"/>
              <a:t>The received ISO 20022 contains a flag indicating that Swift has converted the source MT (see the flag documentation in your interface)</a:t>
            </a:r>
          </a:p>
          <a:p>
            <a:r>
              <a:rPr lang="en-US" sz="1600" dirty="0"/>
              <a:t>If the receiver is opt-in to In-flow translation for this ISO 20022 message, an embedded MT will also be delivered with the ISO 20022. This MT is generated by In-flow translation based on the content of the ISO 20022</a:t>
            </a:r>
          </a:p>
          <a:p>
            <a:r>
              <a:rPr lang="en-US" sz="1600" dirty="0"/>
              <a:t>Confirm that you have successfully processed the inbound ISO 20022 (or embedded MT) in your downstream systems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sz="7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1311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454545"/>
                </a:solidFill>
                <a:latin typeface="+mn-lt"/>
                <a:ea typeface="Calibri" panose="020F0502020204030204" pitchFamily="34" charset="0"/>
              </a:rPr>
              <a:t>Additional information</a:t>
            </a:r>
            <a:endParaRPr lang="en-US" sz="2400" b="1" dirty="0">
              <a:solidFill>
                <a:srgbClr val="454545"/>
              </a:solidFill>
              <a:latin typeface="+mn-lt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909" y="914400"/>
            <a:ext cx="8229600" cy="4525963"/>
          </a:xfrm>
        </p:spPr>
        <p:txBody>
          <a:bodyPr/>
          <a:lstStyle/>
          <a:p>
            <a:r>
              <a:rPr lang="en-US" sz="2400" u="sng" dirty="0" smtClean="0">
                <a:hlinkClick r:id="rId3"/>
              </a:rPr>
              <a:t>Swift </a:t>
            </a:r>
            <a:r>
              <a:rPr lang="en-US" sz="2400" u="sng" dirty="0">
                <a:hlinkClick r:id="rId3"/>
              </a:rPr>
              <a:t>Smart: Course and Class </a:t>
            </a:r>
            <a:r>
              <a:rPr lang="en-US" sz="2400" u="sng" dirty="0" smtClean="0">
                <a:hlinkClick r:id="rId3"/>
              </a:rPr>
              <a:t>Details</a:t>
            </a:r>
            <a:r>
              <a:rPr lang="en-US" sz="2400" dirty="0" smtClean="0"/>
              <a:t> (</a:t>
            </a:r>
            <a:r>
              <a:rPr lang="en-US" sz="2400" dirty="0" smtClean="0">
                <a:solidFill>
                  <a:srgbClr val="FF0000"/>
                </a:solidFill>
              </a:rPr>
              <a:t>8 minute webinar</a:t>
            </a:r>
            <a:r>
              <a:rPr lang="en-US" sz="2400" dirty="0" smtClean="0"/>
              <a:t>)</a:t>
            </a:r>
          </a:p>
          <a:p>
            <a:endParaRPr lang="en-US" sz="2400" u="sng" dirty="0"/>
          </a:p>
          <a:p>
            <a:endParaRPr lang="en-US" sz="2400" u="sng" dirty="0" smtClean="0"/>
          </a:p>
          <a:p>
            <a:pPr marL="0" indent="0">
              <a:buNone/>
            </a:pPr>
            <a:r>
              <a:rPr lang="en-US" sz="2400" u="sng" dirty="0" smtClean="0"/>
              <a:t> </a:t>
            </a:r>
            <a:endParaRPr lang="en-US" sz="2400" u="sng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23" y="1676400"/>
            <a:ext cx="7961972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5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dirty="0"/>
              <a:t>The following table lists the messages in scope of In-flow translation for contingency processing (ISO 20022 to MT translation embedded in multi-format):</a:t>
            </a:r>
            <a:endParaRPr lang="en-US" sz="2000" b="1" dirty="0">
              <a:solidFill>
                <a:srgbClr val="454545"/>
              </a:solidFill>
              <a:latin typeface="+mn-lt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417638"/>
            <a:ext cx="3727517" cy="42232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5762521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Note: The complete list of messages processed by In-flow translation is available in Appendix A of </a:t>
            </a:r>
            <a:r>
              <a:rPr lang="en-US" i="1" u="sng" dirty="0">
                <a:hlinkClick r:id="rId4"/>
              </a:rPr>
              <a:t>In-flow Translation Service </a:t>
            </a:r>
            <a:r>
              <a:rPr lang="en-US" i="1" u="sng" dirty="0" smtClean="0">
                <a:hlinkClick r:id="rId4"/>
              </a:rPr>
              <a:t>Overview</a:t>
            </a:r>
            <a:r>
              <a:rPr lang="en-US" i="1" dirty="0" smtClean="0"/>
              <a:t>. </a:t>
            </a:r>
            <a:r>
              <a:rPr lang="en-US" dirty="0" smtClean="0"/>
              <a:t>https</a:t>
            </a:r>
            <a:r>
              <a:rPr lang="en-US" dirty="0"/>
              <a:t>://www2.swift.com/go/book/book201414</a:t>
            </a:r>
          </a:p>
        </p:txBody>
      </p:sp>
    </p:spTree>
    <p:extLst>
      <p:ext uri="{BB962C8B-B14F-4D97-AF65-F5344CB8AC3E}">
        <p14:creationId xmlns:p14="http://schemas.microsoft.com/office/powerpoint/2010/main" val="331598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7565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dirty="0" smtClean="0">
                <a:solidFill>
                  <a:srgbClr val="454545"/>
                </a:solidFill>
                <a:latin typeface="+mn-lt"/>
                <a:ea typeface="Calibri" panose="020F0502020204030204" pitchFamily="34" charset="0"/>
              </a:rPr>
              <a:t>MT103 </a:t>
            </a:r>
            <a:r>
              <a:rPr lang="en-US" sz="2400" b="1" dirty="0">
                <a:solidFill>
                  <a:srgbClr val="454545"/>
                </a:solidFill>
                <a:latin typeface="+mn-lt"/>
                <a:ea typeface="Calibri" panose="020F0502020204030204" pitchFamily="34" charset="0"/>
              </a:rPr>
              <a:t>and MT 202/205 REJT/RETN (pacs.002 and pacs.004 equivalent) are in scope of the CBPR+ and must be replaced by November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buFont typeface="Wingdings" panose="05000000000000000000" pitchFamily="2" charset="2"/>
              <a:buChar char="Ø"/>
            </a:pPr>
            <a:endParaRPr lang="en-US" sz="1400" dirty="0"/>
          </a:p>
          <a:p>
            <a:pPr lvl="2">
              <a:buFont typeface="Wingdings" panose="05000000000000000000" pitchFamily="2" charset="2"/>
              <a:buChar char="Ø"/>
            </a:pPr>
            <a:endParaRPr lang="en-US" sz="1400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04000"/>
            <a:ext cx="7010400" cy="555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74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Note on MT101 Request for Transfer [Update January 2025]</a:t>
            </a:r>
            <a:endParaRPr lang="en-US" sz="2800" b="1" dirty="0">
              <a:solidFill>
                <a:srgbClr val="454545"/>
              </a:solidFill>
              <a:latin typeface="+mn-lt"/>
              <a:ea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419598"/>
          </a:xfrm>
        </p:spPr>
        <p:txBody>
          <a:bodyPr>
            <a:normAutofit fontScale="55000" lnSpcReduction="20000"/>
          </a:bodyPr>
          <a:lstStyle/>
          <a:p>
            <a:pPr lvl="2">
              <a:buFont typeface="Wingdings" panose="05000000000000000000" pitchFamily="2" charset="2"/>
              <a:buChar char="Ø"/>
            </a:pPr>
            <a:endParaRPr lang="en-US" sz="1400" dirty="0"/>
          </a:p>
          <a:p>
            <a:pPr lvl="2">
              <a:buFont typeface="Wingdings" panose="05000000000000000000" pitchFamily="2" charset="2"/>
              <a:buChar char="Ø"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Following community consultation and feedback regarding MT101 (interbank), the switch to the ISO 20022 equivalent (pain.001) will be deprioritized for November 2025.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Swift </a:t>
            </a:r>
            <a:r>
              <a:rPr lang="en-US" dirty="0"/>
              <a:t>will consult with the community to support pain.001 adoption and will communicate an updated plan in the </a:t>
            </a:r>
            <a:r>
              <a:rPr lang="en-US" u="sng" dirty="0"/>
              <a:t>second half of 2025</a:t>
            </a:r>
            <a:r>
              <a:rPr lang="en-US" dirty="0"/>
              <a:t>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the interim, MT101 (single instruction FI-to-FI) and MT 101 (multiple instruction FI-to-FI) will continue to be supported on FIN after November 2025.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Conversion </a:t>
            </a:r>
            <a:r>
              <a:rPr lang="en-US" dirty="0"/>
              <a:t>processing of MT 101 (single instruction FI-to-FI) is no longer required at this stage, and In-flow translation will support pain.001 interbank to MT 101 from November 2025.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Further </a:t>
            </a:r>
            <a:r>
              <a:rPr lang="en-US" dirty="0"/>
              <a:t>information can be found in </a:t>
            </a:r>
            <a:r>
              <a:rPr lang="en-US" u="sng" dirty="0">
                <a:hlinkClick r:id="rId3"/>
              </a:rPr>
              <a:t>KB article 5026117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281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2400" b="1" dirty="0" smtClean="0"/>
              <a:t>Market Assessment G20 – speed of payments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B6AEE4-56B6-4825-A441-AA7DAD01CE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0"/>
            <a:ext cx="8661907" cy="487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17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WrappedLabelHistory xmlns:xsd="http://www.w3.org/2001/XMLSchema" xmlns:xsi="http://www.w3.org/2001/XMLSchema-instance" xmlns="http://www.boldonjames.com/2016/02/Classifier/internal/wrappedLabelHistory">
  <Value>PD94bWwgdmVyc2lvbj0iMS4wIiBlbmNvZGluZz0idXMtYXNjaWkiPz48bGFiZWxIaXN0b3J5IHhtbG5zOnhzZD0iaHR0cDovL3d3dy53My5vcmcvMjAwMS9YTUxTY2hlbWEiIHhtbG5zOnhzaT0iaHR0cDovL3d3dy53My5vcmcvMjAwMS9YTUxTY2hlbWEtaW5zdGFuY2UiIHhtbG5zPSJodHRwOi8vd3d3LmJvbGRvbmphbWVzLmNvbS8yMDE2LzAyL0NsYXNzaWZpZXIvaW50ZXJuYWwvbGFiZWxIaXN0b3J5Ij48aXRlbT48c2lzbCBzaXNsVmVyc2lvbj0iMCIgcG9saWN5PSI1YWIwMjdlMy05N2Y1LTRmMmItYjI0Mi0xODlmODRmMWJmZmUiIG9yaWdpbj0idXNlclNlbGVjdGVkIiAvPjxVc2VyTmFtZT5TRUJcZGtsaWpuPC9Vc2VyTmFtZT48RGF0ZVRpbWU+NC8xNy8yMDI1IDc6NDI6NDIgQU08L0RhdGVUaW1lPjxMYWJlbFN0cmluZz5UaGlzIGl0ZW0gaGFzIG5vIGNsYXNzaWZpY2F0aW9uPC9MYWJlbFN0cmluZz48L2l0ZW0+PC9sYWJlbEhpc3Rvcnk+</Value>
</WrappedLabelHistory>
</file>

<file path=customXml/item2.xml><?xml version="1.0" encoding="utf-8"?>
<sisl xmlns:xsd="http://www.w3.org/2001/XMLSchema" xmlns:xsi="http://www.w3.org/2001/XMLSchema-instance" xmlns="http://www.boldonjames.com/2008/01/sie/internal/label" sislVersion="0" policy="5ab027e3-97f5-4f2b-b242-189f84f1bffe" origin="userSelected"/>
</file>

<file path=customXml/itemProps1.xml><?xml version="1.0" encoding="utf-8"?>
<ds:datastoreItem xmlns:ds="http://schemas.openxmlformats.org/officeDocument/2006/customXml" ds:itemID="{5A85CED6-14F8-49C1-A32C-44DFA0BBEEBA}">
  <ds:schemaRefs>
    <ds:schemaRef ds:uri="http://www.w3.org/2001/XMLSchema"/>
    <ds:schemaRef ds:uri="http://www.boldonjames.com/2016/02/Classifier/internal/wrappedLabelHistory"/>
  </ds:schemaRefs>
</ds:datastoreItem>
</file>

<file path=customXml/itemProps2.xml><?xml version="1.0" encoding="utf-8"?>
<ds:datastoreItem xmlns:ds="http://schemas.openxmlformats.org/officeDocument/2006/customXml" ds:itemID="{1ED770AA-443E-4C6B-9742-87D6D112230E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9485</TotalTime>
  <Words>1565</Words>
  <Application>Microsoft Office PowerPoint</Application>
  <PresentationFormat>On-screen Show (4:3)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Aeonik Pro</vt:lpstr>
      <vt:lpstr>Arial</vt:lpstr>
      <vt:lpstr>Calibri</vt:lpstr>
      <vt:lpstr>Wingdings</vt:lpstr>
      <vt:lpstr>Office Theme</vt:lpstr>
      <vt:lpstr>PowerPoint Presentation</vt:lpstr>
      <vt:lpstr>Contingency measures for MT Senders</vt:lpstr>
      <vt:lpstr>MT to ISO 20022 Conversion Service: For MT Senders (1/2)</vt:lpstr>
      <vt:lpstr>MT to ISO 20022 Conversion Service: For MT Senders (2/2)</vt:lpstr>
      <vt:lpstr>Global Tier</vt:lpstr>
      <vt:lpstr>In-flow translation services for ISO20022 receivers</vt:lpstr>
      <vt:lpstr>Testing the FIN validation rules and contingency processing (1/2)</vt:lpstr>
      <vt:lpstr>Testing the FIN validation rules and contingency processing (2/2)</vt:lpstr>
      <vt:lpstr>Additional information</vt:lpstr>
      <vt:lpstr>The following table lists the messages in scope of In-flow translation for contingency processing (ISO 20022 to MT translation embedded in multi-format):</vt:lpstr>
      <vt:lpstr>MT103 and MT 202/205 REJT/RETN (pacs.002 and pacs.004 equivalent) are in scope of the CBPR+ and must be replaced by November 2025.</vt:lpstr>
      <vt:lpstr>Note on MT101 Request for Transfer [Update January 2025]</vt:lpstr>
      <vt:lpstr>Market Assessment G20 – speed of payments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Givi Melkadze</dc:creator>
  <cp:lastModifiedBy>Denise Klijn</cp:lastModifiedBy>
  <cp:revision>338</cp:revision>
  <dcterms:created xsi:type="dcterms:W3CDTF">2014-06-16T11:16:50Z</dcterms:created>
  <dcterms:modified xsi:type="dcterms:W3CDTF">2025-06-23T08:46:14Z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c2a1304b-e4a7-4eaa-a5a9-f86eb2c26785</vt:lpwstr>
  </property>
  <property fmtid="{D5CDD505-2E9C-101B-9397-08002B2CF9AE}" pid="3" name="bjDocumentSecurityLabel">
    <vt:lpwstr>This item has no classification</vt:lpwstr>
  </property>
  <property fmtid="{D5CDD505-2E9C-101B-9397-08002B2CF9AE}" pid="4" name="bjClsUserRVM">
    <vt:lpwstr>[]</vt:lpwstr>
  </property>
  <property fmtid="{D5CDD505-2E9C-101B-9397-08002B2CF9AE}" pid="5" name="bjSaver">
    <vt:lpwstr>efz30eRf6J5FyC4GCjc3Kg1np6sTsZVP</vt:lpwstr>
  </property>
  <property fmtid="{D5CDD505-2E9C-101B-9397-08002B2CF9AE}" pid="6" name="bjLabelHistoryID">
    <vt:lpwstr>{5A85CED6-14F8-49C1-A32C-44DFA0BBEEBA}</vt:lpwstr>
  </property>
</Properties>
</file>